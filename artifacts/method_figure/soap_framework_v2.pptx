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06240" cy="19751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70432" y="27432"/>
            <a:ext cx="2999232" cy="356616"/>
          </a:xfrm>
          <a:prstGeom prst="roundRect">
            <a:avLst>
              <a:gd name="adj" fmla="val 15384"/>
            </a:avLst>
          </a:prstGeom>
          <a:solidFill>
            <a:srgbClr val="FCFCFA"/>
          </a:solidFill>
          <a:ln w="7620">
            <a:solidFill>
              <a:srgbClr val="D6D4C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70432" y="429768"/>
            <a:ext cx="2999232" cy="731519"/>
          </a:xfrm>
          <a:prstGeom prst="roundRect">
            <a:avLst>
              <a:gd name="adj" fmla="val 7500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70432" y="1243584"/>
            <a:ext cx="2999232" cy="704088"/>
          </a:xfrm>
          <a:prstGeom prst="roundRect">
            <a:avLst>
              <a:gd name="adj" fmla="val 7792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066543" y="329184"/>
            <a:ext cx="868680" cy="0"/>
          </a:xfrm>
          <a:custGeom>
            <a:avLst/>
            <a:gdLst/>
            <a:ahLst/>
            <a:cxnLst/>
            <a:rect l="l" t="t" r="r" b="b"/>
            <a:pathLst>
              <a:path w="868680" h="0">
                <a:moveTo>
                  <a:pt x="0" y="0"/>
                </a:moveTo>
                <a:lnTo>
                  <a:pt x="86868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645"/>
                </a:moveTo>
                <a:lnTo>
                  <a:pt x="0" y="173542"/>
                </a:ln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  <a:lnTo>
                  <a:pt x="777240" y="173645"/>
                </a:lnTo>
                <a:close/>
              </a:path>
            </a:pathLst>
          </a:custGeom>
          <a:solidFill>
            <a:srgbClr val="FA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337559" y="146425"/>
            <a:ext cx="777240" cy="182759"/>
          </a:xfrm>
          <a:custGeom>
            <a:avLst/>
            <a:gdLst/>
            <a:ahLst/>
            <a:cxnLst/>
            <a:rect l="l" t="t" r="r" b="b"/>
            <a:pathLst>
              <a:path w="777240" h="182759">
                <a:moveTo>
                  <a:pt x="0" y="182759"/>
                </a:moveTo>
                <a:lnTo>
                  <a:pt x="0" y="182758"/>
                </a:ln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  <a:lnTo>
                  <a:pt x="777240" y="182759"/>
                </a:lnTo>
                <a:close/>
              </a:path>
            </a:pathLst>
          </a:custGeom>
          <a:solidFill>
            <a:srgbClr val="D9D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337559" y="329184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 h="0">
                <a:moveTo>
                  <a:pt x="0" y="0"/>
                </a:moveTo>
                <a:lnTo>
                  <a:pt x="77724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819655" y="972921"/>
            <a:ext cx="626182" cy="87783"/>
          </a:xfrm>
          <a:custGeom>
            <a:avLst/>
            <a:gdLst/>
            <a:ahLst/>
            <a:cxnLst/>
            <a:rect l="l" t="t" r="r" b="b"/>
            <a:pathLst>
              <a:path w="626182" h="87783">
                <a:moveTo>
                  <a:pt x="0" y="87783"/>
                </a:moveTo>
                <a:lnTo>
                  <a:pt x="512065" y="87783"/>
                </a:lnTo>
                <a:lnTo>
                  <a:pt x="626182" y="0"/>
                </a:lnTo>
                <a:lnTo>
                  <a:pt x="114118" y="0"/>
                </a:lnTo>
                <a:close/>
              </a:path>
            </a:pathLst>
          </a:custGeom>
          <a:solidFill>
            <a:srgbClr val="FBE0D2"/>
          </a:solidFill>
          <a:ln w="76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658368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463040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" y="155448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7" y="52120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7" y="699516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7" y="877824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7" y="1056132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7" y="1234440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7" y="141274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94944" y="640080"/>
            <a:ext cx="228600" cy="603504"/>
          </a:xfrm>
          <a:custGeom>
            <a:avLst/>
            <a:gdLst/>
            <a:ahLst/>
            <a:cxnLst/>
            <a:rect l="l" t="t" r="r" b="b"/>
            <a:pathLst>
              <a:path w="228600" h="603504">
                <a:moveTo>
                  <a:pt x="0" y="603504"/>
                </a:moveTo>
                <a:lnTo>
                  <a:pt x="0" y="0"/>
                </a:lnTo>
                <a:lnTo>
                  <a:pt x="228600" y="164592"/>
                </a:lnTo>
                <a:lnTo>
                  <a:pt x="228600" y="438912"/>
                </a:lnTo>
                <a:close/>
              </a:path>
            </a:pathLst>
          </a:custGeom>
          <a:solidFill>
            <a:srgbClr val="DFE8F3"/>
          </a:solidFill>
          <a:ln w="10160">
            <a:solidFill>
              <a:srgbClr val="7F9F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43584" y="149998"/>
            <a:ext cx="28309" cy="28309"/>
          </a:xfrm>
          <a:prstGeom prst="rect">
            <a:avLst/>
          </a:prstGeom>
          <a:solidFill>
            <a:srgbClr val="D6D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76502" y="149998"/>
            <a:ext cx="28309" cy="28309"/>
          </a:xfrm>
          <a:prstGeom prst="rect">
            <a:avLst/>
          </a:prstGeom>
          <a:solidFill>
            <a:srgbClr val="C8C7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9420" y="149998"/>
            <a:ext cx="28309" cy="28309"/>
          </a:xfrm>
          <a:prstGeom prst="rect">
            <a:avLst/>
          </a:prstGeom>
          <a:solidFill>
            <a:srgbClr val="9392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42339" y="149998"/>
            <a:ext cx="28309" cy="28309"/>
          </a:xfrm>
          <a:prstGeom prst="rect">
            <a:avLst/>
          </a:prstGeom>
          <a:solidFill>
            <a:srgbClr val="A8A7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5257" y="149998"/>
            <a:ext cx="28309" cy="28309"/>
          </a:xfrm>
          <a:prstGeom prst="rect">
            <a:avLst/>
          </a:prstGeom>
          <a:solidFill>
            <a:srgbClr val="D5D5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43584" y="182916"/>
            <a:ext cx="28309" cy="28309"/>
          </a:xfrm>
          <a:prstGeom prst="rect">
            <a:avLst/>
          </a:prstGeom>
          <a:solidFill>
            <a:srgbClr val="B5B5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76502" y="182916"/>
            <a:ext cx="28309" cy="28309"/>
          </a:xfrm>
          <a:prstGeom prst="rect">
            <a:avLst/>
          </a:prstGeom>
          <a:solidFill>
            <a:srgbClr val="B1B1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09420" y="182916"/>
            <a:ext cx="28309" cy="28309"/>
          </a:xfrm>
          <a:prstGeom prst="rect">
            <a:avLst/>
          </a:prstGeom>
          <a:solidFill>
            <a:srgbClr val="CFCF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42339" y="182916"/>
            <a:ext cx="28309" cy="28309"/>
          </a:xfrm>
          <a:prstGeom prst="rect">
            <a:avLst/>
          </a:prstGeom>
          <a:solidFill>
            <a:srgbClr val="9999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75257" y="182916"/>
            <a:ext cx="28309" cy="28309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43584" y="215834"/>
            <a:ext cx="28309" cy="28309"/>
          </a:xfrm>
          <a:prstGeom prst="rect">
            <a:avLst/>
          </a:prstGeom>
          <a:solidFill>
            <a:srgbClr val="B9B9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76502" y="215834"/>
            <a:ext cx="28309" cy="28309"/>
          </a:xfrm>
          <a:prstGeom prst="rect">
            <a:avLst/>
          </a:prstGeom>
          <a:solidFill>
            <a:srgbClr val="AEAD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09420" y="215834"/>
            <a:ext cx="28309" cy="28309"/>
          </a:xfrm>
          <a:prstGeom prst="rect">
            <a:avLst/>
          </a:prstGeom>
          <a:solidFill>
            <a:srgbClr val="B6B5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42339" y="215834"/>
            <a:ext cx="28309" cy="28309"/>
          </a:xfrm>
          <a:prstGeom prst="rect">
            <a:avLst/>
          </a:prstGeom>
          <a:solidFill>
            <a:srgbClr val="A7A6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5257" y="215834"/>
            <a:ext cx="28309" cy="28309"/>
          </a:xfrm>
          <a:prstGeom prst="rect">
            <a:avLst/>
          </a:prstGeom>
          <a:solidFill>
            <a:srgbClr val="999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43584" y="248753"/>
            <a:ext cx="28309" cy="28309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76502" y="248753"/>
            <a:ext cx="28309" cy="28309"/>
          </a:xfrm>
          <a:prstGeom prst="rect">
            <a:avLst/>
          </a:prstGeom>
          <a:solidFill>
            <a:srgbClr val="C3C3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09420" y="248753"/>
            <a:ext cx="28309" cy="28309"/>
          </a:xfrm>
          <a:prstGeom prst="rect">
            <a:avLst/>
          </a:prstGeom>
          <a:solidFill>
            <a:srgbClr val="A1A1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42339" y="248753"/>
            <a:ext cx="28309" cy="28309"/>
          </a:xfrm>
          <a:prstGeom prst="rect">
            <a:avLst/>
          </a:prstGeom>
          <a:solidFill>
            <a:srgbClr val="9D9C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75257" y="248753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43584" y="281671"/>
            <a:ext cx="28309" cy="28309"/>
          </a:xfrm>
          <a:prstGeom prst="rect">
            <a:avLst/>
          </a:prstGeom>
          <a:solidFill>
            <a:srgbClr val="DEDD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76502" y="281671"/>
            <a:ext cx="28309" cy="28309"/>
          </a:xfrm>
          <a:prstGeom prst="rect">
            <a:avLst/>
          </a:prstGeom>
          <a:solidFill>
            <a:srgbClr val="8382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09420" y="281671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42339" y="281671"/>
            <a:ext cx="28309" cy="28309"/>
          </a:xfrm>
          <a:prstGeom prst="rect">
            <a:avLst/>
          </a:prstGeom>
          <a:solidFill>
            <a:srgbClr val="C1C0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5257" y="281671"/>
            <a:ext cx="28309" cy="28309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43584" y="314590"/>
            <a:ext cx="28309" cy="28309"/>
          </a:xfrm>
          <a:prstGeom prst="rect">
            <a:avLst/>
          </a:prstGeom>
          <a:solidFill>
            <a:srgbClr val="A7A7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76502" y="314590"/>
            <a:ext cx="28309" cy="28309"/>
          </a:xfrm>
          <a:prstGeom prst="rect">
            <a:avLst/>
          </a:prstGeom>
          <a:solidFill>
            <a:srgbClr val="B2B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09420" y="314590"/>
            <a:ext cx="28309" cy="28309"/>
          </a:xfrm>
          <a:prstGeom prst="rect">
            <a:avLst/>
          </a:prstGeom>
          <a:solidFill>
            <a:srgbClr val="9695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42339" y="314590"/>
            <a:ext cx="28309" cy="28309"/>
          </a:xfrm>
          <a:prstGeom prst="rect">
            <a:avLst/>
          </a:prstGeom>
          <a:solidFill>
            <a:srgbClr val="DBDB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75257" y="314590"/>
            <a:ext cx="28309" cy="28309"/>
          </a:xfrm>
          <a:prstGeom prst="rect">
            <a:avLst/>
          </a:prstGeom>
          <a:solidFill>
            <a:srgbClr val="9C9B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78953" y="100584"/>
            <a:ext cx="37229" cy="22860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41002" y="201168"/>
            <a:ext cx="37229" cy="128016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03050" y="233172"/>
            <a:ext cx="37229" cy="9601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265099" y="253746"/>
            <a:ext cx="37229" cy="75438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27148" y="267462"/>
            <a:ext cx="37229" cy="6172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89196" y="278892"/>
            <a:ext cx="37229" cy="5029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51245" y="285750"/>
            <a:ext cx="37229" cy="4343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3293" y="292608"/>
            <a:ext cx="37229" cy="3657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75342" y="299466"/>
            <a:ext cx="37229" cy="2971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37390" y="304038"/>
            <a:ext cx="37229" cy="2514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99439" y="308610"/>
            <a:ext cx="37229" cy="2057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61488" y="310896"/>
            <a:ext cx="37229" cy="1828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23536" y="313182"/>
            <a:ext cx="37229" cy="1600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85585" y="315468"/>
            <a:ext cx="37229" cy="1371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542"/>
                </a:move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</a:path>
            </a:pathLst>
          </a:custGeom>
          <a:noFill/>
          <a:ln w="889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337559" y="146425"/>
            <a:ext cx="777240" cy="182758"/>
          </a:xfrm>
          <a:custGeom>
            <a:avLst/>
            <a:gdLst/>
            <a:ahLst/>
            <a:cxnLst/>
            <a:rect l="l" t="t" r="r" b="b"/>
            <a:pathLst>
              <a:path w="777240" h="182758">
                <a:moveTo>
                  <a:pt x="0" y="182758"/>
                </a:move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</a:path>
            </a:pathLst>
          </a:custGeom>
          <a:noFill/>
          <a:ln w="889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52728" y="639897"/>
            <a:ext cx="55046" cy="55046"/>
          </a:xfrm>
          <a:prstGeom prst="rect">
            <a:avLst/>
          </a:prstGeom>
          <a:solidFill>
            <a:srgbClr val="A8A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316736" y="639897"/>
            <a:ext cx="55046" cy="55046"/>
          </a:xfrm>
          <a:prstGeom prst="rect">
            <a:avLst/>
          </a:prstGeom>
          <a:solidFill>
            <a:srgbClr val="8F8E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80744" y="639897"/>
            <a:ext cx="55046" cy="55046"/>
          </a:xfrm>
          <a:prstGeom prst="rect">
            <a:avLst/>
          </a:prstGeom>
          <a:solidFill>
            <a:srgbClr val="9A99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44751" y="639897"/>
            <a:ext cx="55046" cy="55046"/>
          </a:xfrm>
          <a:prstGeom prst="rect">
            <a:avLst/>
          </a:prstGeom>
          <a:solidFill>
            <a:srgbClr val="CBCA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08760" y="639897"/>
            <a:ext cx="55046" cy="55046"/>
          </a:xfrm>
          <a:prstGeom prst="rect">
            <a:avLst/>
          </a:prstGeom>
          <a:solidFill>
            <a:srgbClr val="C5C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72768" y="639897"/>
            <a:ext cx="55046" cy="55046"/>
          </a:xfrm>
          <a:prstGeom prst="rect">
            <a:avLst/>
          </a:prstGeom>
          <a:solidFill>
            <a:srgbClr val="9290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52728" y="703905"/>
            <a:ext cx="55046" cy="55046"/>
          </a:xfrm>
          <a:prstGeom prst="rect">
            <a:avLst/>
          </a:prstGeom>
          <a:solidFill>
            <a:srgbClr val="DFDE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16736" y="703905"/>
            <a:ext cx="55046" cy="55046"/>
          </a:xfrm>
          <a:prstGeom prst="rect">
            <a:avLst/>
          </a:prstGeom>
          <a:solidFill>
            <a:srgbClr val="9695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80744" y="703905"/>
            <a:ext cx="55046" cy="55046"/>
          </a:xfrm>
          <a:prstGeom prst="rect">
            <a:avLst/>
          </a:prstGeom>
          <a:solidFill>
            <a:srgbClr val="9897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444751" y="703905"/>
            <a:ext cx="55046" cy="55046"/>
          </a:xfrm>
          <a:prstGeom prst="rect">
            <a:avLst/>
          </a:prstGeom>
          <a:solidFill>
            <a:srgbClr val="B6B4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508760" y="703905"/>
            <a:ext cx="55046" cy="55046"/>
          </a:xfrm>
          <a:prstGeom prst="rect">
            <a:avLst/>
          </a:prstGeom>
          <a:solidFill>
            <a:srgbClr val="C4C3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572768" y="703905"/>
            <a:ext cx="55046" cy="55046"/>
          </a:xfrm>
          <a:prstGeom prst="rect">
            <a:avLst/>
          </a:prstGeom>
          <a:solidFill>
            <a:srgbClr val="C6C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52728" y="767913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16736" y="767913"/>
            <a:ext cx="55046" cy="55046"/>
          </a:xfrm>
          <a:prstGeom prst="rect">
            <a:avLst/>
          </a:prstGeom>
          <a:solidFill>
            <a:srgbClr val="B8B7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80744" y="767913"/>
            <a:ext cx="55046" cy="55046"/>
          </a:xfrm>
          <a:prstGeom prst="rect">
            <a:avLst/>
          </a:prstGeom>
          <a:solidFill>
            <a:srgbClr val="B2B1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44751" y="767913"/>
            <a:ext cx="55046" cy="55046"/>
          </a:xfrm>
          <a:prstGeom prst="rect">
            <a:avLst/>
          </a:prstGeom>
          <a:solidFill>
            <a:srgbClr val="AEAD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08760" y="767913"/>
            <a:ext cx="55046" cy="55046"/>
          </a:xfrm>
          <a:prstGeom prst="rect">
            <a:avLst/>
          </a:prstGeom>
          <a:solidFill>
            <a:srgbClr val="8785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572768" y="767913"/>
            <a:ext cx="55046" cy="55046"/>
          </a:xfrm>
          <a:prstGeom prst="rect">
            <a:avLst/>
          </a:prstGeom>
          <a:solidFill>
            <a:srgbClr val="9997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52728" y="831921"/>
            <a:ext cx="55046" cy="55046"/>
          </a:xfrm>
          <a:prstGeom prst="rect">
            <a:avLst/>
          </a:prstGeom>
          <a:solidFill>
            <a:srgbClr val="A8A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316736" y="831921"/>
            <a:ext cx="55046" cy="55046"/>
          </a:xfrm>
          <a:prstGeom prst="rect">
            <a:avLst/>
          </a:prstGeom>
          <a:solidFill>
            <a:srgbClr val="8785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380744" y="831921"/>
            <a:ext cx="55046" cy="55046"/>
          </a:xfrm>
          <a:prstGeom prst="rect">
            <a:avLst/>
          </a:prstGeom>
          <a:solidFill>
            <a:srgbClr val="CCCB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444751" y="831921"/>
            <a:ext cx="55046" cy="55046"/>
          </a:xfrm>
          <a:prstGeom prst="rect">
            <a:avLst/>
          </a:prstGeom>
          <a:solidFill>
            <a:srgbClr val="D1D0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508760" y="831921"/>
            <a:ext cx="55046" cy="55046"/>
          </a:xfrm>
          <a:prstGeom prst="rect">
            <a:avLst/>
          </a:prstGeom>
          <a:solidFill>
            <a:srgbClr val="A9A7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572768" y="831921"/>
            <a:ext cx="55046" cy="55046"/>
          </a:xfrm>
          <a:prstGeom prst="rect">
            <a:avLst/>
          </a:prstGeom>
          <a:solidFill>
            <a:srgbClr val="DBDB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52728" y="895929"/>
            <a:ext cx="55046" cy="55046"/>
          </a:xfrm>
          <a:prstGeom prst="rect">
            <a:avLst/>
          </a:prstGeom>
          <a:solidFill>
            <a:srgbClr val="DCDC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316736" y="895929"/>
            <a:ext cx="55046" cy="55046"/>
          </a:xfrm>
          <a:prstGeom prst="rect">
            <a:avLst/>
          </a:prstGeom>
          <a:solidFill>
            <a:srgbClr val="B1B0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80744" y="895929"/>
            <a:ext cx="55046" cy="55046"/>
          </a:xfrm>
          <a:prstGeom prst="rect">
            <a:avLst/>
          </a:prstGeom>
          <a:solidFill>
            <a:srgbClr val="B6B5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44751" y="895929"/>
            <a:ext cx="55046" cy="55046"/>
          </a:xfrm>
          <a:prstGeom prst="rect">
            <a:avLst/>
          </a:prstGeom>
          <a:solidFill>
            <a:srgbClr val="8E8C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08760" y="895929"/>
            <a:ext cx="55046" cy="55046"/>
          </a:xfrm>
          <a:prstGeom prst="rect">
            <a:avLst/>
          </a:prstGeom>
          <a:solidFill>
            <a:srgbClr val="A7A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72768" y="895929"/>
            <a:ext cx="55046" cy="55046"/>
          </a:xfrm>
          <a:prstGeom prst="rect">
            <a:avLst/>
          </a:prstGeom>
          <a:solidFill>
            <a:srgbClr val="B2B0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52728" y="959937"/>
            <a:ext cx="55046" cy="55046"/>
          </a:xfrm>
          <a:prstGeom prst="rect">
            <a:avLst/>
          </a:prstGeom>
          <a:solidFill>
            <a:srgbClr val="B3B2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16736" y="959937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380744" y="959937"/>
            <a:ext cx="55046" cy="55046"/>
          </a:xfrm>
          <a:prstGeom prst="rect">
            <a:avLst/>
          </a:prstGeom>
          <a:solidFill>
            <a:srgbClr val="DEDE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444751" y="959937"/>
            <a:ext cx="55046" cy="55046"/>
          </a:xfrm>
          <a:prstGeom prst="rect">
            <a:avLst/>
          </a:prstGeom>
          <a:solidFill>
            <a:srgbClr val="CEC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508760" y="959937"/>
            <a:ext cx="55046" cy="55046"/>
          </a:xfrm>
          <a:prstGeom prst="rect">
            <a:avLst/>
          </a:prstGeom>
          <a:solidFill>
            <a:srgbClr val="A2A0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72768" y="959937"/>
            <a:ext cx="55046" cy="55046"/>
          </a:xfrm>
          <a:prstGeom prst="rect">
            <a:avLst/>
          </a:prstGeom>
          <a:solidFill>
            <a:srgbClr val="CDC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427719" y="964143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546591" y="925519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665463" y="861145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784335" y="883676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903207" y="803208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022079" y="835395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52728" y="1453713"/>
            <a:ext cx="55046" cy="55046"/>
          </a:xfrm>
          <a:prstGeom prst="rect">
            <a:avLst/>
          </a:prstGeom>
          <a:solidFill>
            <a:srgbClr val="ECB7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52728" y="1517721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316736" y="1517721"/>
            <a:ext cx="55046" cy="55046"/>
          </a:xfrm>
          <a:prstGeom prst="rect">
            <a:avLst/>
          </a:prstGeom>
          <a:solidFill>
            <a:srgbClr val="EFC3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252728" y="1581729"/>
            <a:ext cx="55046" cy="55046"/>
          </a:xfrm>
          <a:prstGeom prst="rect">
            <a:avLst/>
          </a:prstGeom>
          <a:solidFill>
            <a:srgbClr val="F4D5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16736" y="1581729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80744" y="1581729"/>
            <a:ext cx="55046" cy="55046"/>
          </a:xfrm>
          <a:prstGeom prst="rect">
            <a:avLst/>
          </a:prstGeom>
          <a:solidFill>
            <a:srgbClr val="E08D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52728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16736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380744" y="1645737"/>
            <a:ext cx="55046" cy="55046"/>
          </a:xfrm>
          <a:prstGeom prst="rect">
            <a:avLst/>
          </a:prstGeom>
          <a:solidFill>
            <a:srgbClr val="E59F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44751" y="1645737"/>
            <a:ext cx="55046" cy="55046"/>
          </a:xfrm>
          <a:prstGeom prst="rect">
            <a:avLst/>
          </a:prstGeom>
          <a:solidFill>
            <a:srgbClr val="F0C9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252728" y="1709745"/>
            <a:ext cx="55046" cy="55046"/>
          </a:xfrm>
          <a:prstGeom prst="rect">
            <a:avLst/>
          </a:prstGeom>
          <a:solidFill>
            <a:srgbClr val="F2C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16736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380744" y="1709745"/>
            <a:ext cx="55046" cy="55046"/>
          </a:xfrm>
          <a:prstGeom prst="rect">
            <a:avLst/>
          </a:prstGeom>
          <a:solidFill>
            <a:srgbClr val="DF8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444751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508760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865376" y="1499616"/>
            <a:ext cx="960120" cy="0"/>
          </a:xfrm>
          <a:custGeom>
            <a:avLst/>
            <a:gdLst/>
            <a:ahLst/>
            <a:cxnLst/>
            <a:rect l="l" t="t" r="r" b="b"/>
            <a:pathLst>
              <a:path w="960120" h="0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143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427719" y="1768815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427719" y="1749503"/>
            <a:ext cx="66568" cy="19312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546591" y="1730191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546591" y="1698004"/>
            <a:ext cx="66568" cy="32186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665463" y="1665817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665463" y="1530632"/>
            <a:ext cx="66568" cy="135184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784335" y="1688348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784335" y="1643286"/>
            <a:ext cx="66568" cy="45061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903207" y="1607880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022079" y="1640067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14300" y="12344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82296" y="91440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75564" y="326440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75564" y="289864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75564" y="253288"/>
            <a:ext cx="307238" cy="23774"/>
          </a:xfrm>
          <a:prstGeom prst="rect">
            <a:avLst/>
          </a:prstGeom>
          <a:solidFill>
            <a:srgbClr val="EADBB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75564" y="216712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75564" y="180136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131695" y="187452"/>
            <a:ext cx="241989" cy="161848"/>
          </a:xfrm>
          <a:prstGeom prst="rect">
            <a:avLst/>
          </a:prstGeom>
          <a:noFill/>
          <a:ln w="889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380744" y="639897"/>
            <a:ext cx="55046" cy="375086"/>
          </a:xfrm>
          <a:prstGeom prst="rect">
            <a:avLst/>
          </a:prstGeom>
          <a:noFill/>
          <a:ln w="1016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3698748" y="658368"/>
            <a:ext cx="0" cy="402336"/>
          </a:xfrm>
          <a:custGeom>
            <a:avLst/>
            <a:gdLst/>
            <a:ahLst/>
            <a:cxnLst/>
            <a:rect l="l" t="t" r="r" b="b"/>
            <a:pathLst>
              <a:path w="0"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380744" y="1572768"/>
            <a:ext cx="55046" cy="192023"/>
          </a:xfrm>
          <a:prstGeom prst="rect">
            <a:avLst/>
          </a:prstGeom>
          <a:noFill/>
          <a:ln w="10160">
            <a:solidFill>
              <a:srgbClr val="A84D1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3698748" y="1463040"/>
            <a:ext cx="0" cy="402336"/>
          </a:xfrm>
          <a:custGeom>
            <a:avLst/>
            <a:gdLst/>
            <a:ahLst/>
            <a:cxnLst/>
            <a:rect l="l" t="t" r="r" b="b"/>
            <a:pathLst>
              <a:path w="0"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442716" y="1495044"/>
            <a:ext cx="45720" cy="4572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442716" y="1554480"/>
            <a:ext cx="45720" cy="45720"/>
          </a:xfrm>
          <a:prstGeom prst="rect">
            <a:avLst/>
          </a:prstGeom>
          <a:solidFill>
            <a:srgbClr val="F1A4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499393" y="268544"/>
            <a:ext cx="189933" cy="423031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49" name="Connector 148"/>
          <p:cNvCxnSpPr/>
          <p:nvPr/>
        </p:nvCxnSpPr>
        <p:spPr>
          <a:xfrm>
            <a:off x="548640" y="770382"/>
            <a:ext cx="132587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0" name="Connector 149"/>
          <p:cNvCxnSpPr/>
          <p:nvPr/>
        </p:nvCxnSpPr>
        <p:spPr>
          <a:xfrm flipV="1">
            <a:off x="928997" y="232041"/>
            <a:ext cx="226837" cy="5234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1" name="Connector 150"/>
          <p:cNvCxnSpPr/>
          <p:nvPr/>
        </p:nvCxnSpPr>
        <p:spPr>
          <a:xfrm flipV="1">
            <a:off x="936345" y="827883"/>
            <a:ext cx="212141" cy="8159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2" name="Connector 151"/>
          <p:cNvCxnSpPr/>
          <p:nvPr/>
        </p:nvCxnSpPr>
        <p:spPr>
          <a:xfrm>
            <a:off x="929584" y="1082162"/>
            <a:ext cx="225663" cy="46000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3" name="Connector 152"/>
          <p:cNvCxnSpPr/>
          <p:nvPr/>
        </p:nvCxnSpPr>
        <p:spPr>
          <a:xfrm>
            <a:off x="1458468" y="244144"/>
            <a:ext cx="192024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4" name="Connector 153"/>
          <p:cNvCxnSpPr/>
          <p:nvPr/>
        </p:nvCxnSpPr>
        <p:spPr>
          <a:xfrm>
            <a:off x="1676868" y="828235"/>
            <a:ext cx="84407" cy="351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5" name="Connector 154"/>
          <p:cNvCxnSpPr/>
          <p:nvPr/>
        </p:nvCxnSpPr>
        <p:spPr>
          <a:xfrm>
            <a:off x="2252689" y="358444"/>
            <a:ext cx="174860" cy="568757"/>
          </a:xfrm>
          <a:prstGeom prst="line">
            <a:avLst/>
          </a:prstGeom>
          <a:ln w="8890">
            <a:solidFill>
              <a:srgbClr val="D9722F"/>
            </a:solidFill>
            <a:prstDash val="dash"/>
            <a:tailEnd type="triangle" w="med" len="med"/>
          </a:ln>
        </p:spPr>
      </p:cxnSp>
      <p:sp>
        <p:nvSpPr>
          <p:cNvPr id="156" name="Freeform 155"/>
          <p:cNvSpPr/>
          <p:nvPr/>
        </p:nvSpPr>
        <p:spPr>
          <a:xfrm>
            <a:off x="1997415" y="870508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09728">
                <a:moveTo>
                  <a:pt x="0" y="109728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4F4D8A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997415" y="980236"/>
            <a:ext cx="153253" cy="43892"/>
          </a:xfrm>
          <a:custGeom>
            <a:avLst/>
            <a:gdLst/>
            <a:ahLst/>
            <a:cxnLst/>
            <a:rect l="l" t="t" r="r" b="b"/>
            <a:pathLst>
              <a:path w="153253" h="43892">
                <a:moveTo>
                  <a:pt x="153253" y="43892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2267529" y="707745"/>
            <a:ext cx="0" cy="310896"/>
          </a:xfrm>
          <a:custGeom>
            <a:avLst/>
            <a:gdLst/>
            <a:ahLst/>
            <a:cxnLst/>
            <a:rect l="l" t="t" r="r" b="b"/>
            <a:pathLst>
              <a:path w="0" h="310896">
                <a:moveTo>
                  <a:pt x="0" y="310896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D9722F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2150668" y="1018641"/>
            <a:ext cx="116861" cy="5487"/>
          </a:xfrm>
          <a:custGeom>
            <a:avLst/>
            <a:gdLst/>
            <a:ahLst/>
            <a:cxnLst/>
            <a:rect l="l" t="t" r="r" b="b"/>
            <a:pathLst>
              <a:path w="116861" h="5487">
                <a:moveTo>
                  <a:pt x="0" y="5487"/>
                </a:moveTo>
                <a:lnTo>
                  <a:pt x="116861" y="0"/>
                </a:lnTo>
              </a:path>
            </a:pathLst>
          </a:custGeom>
          <a:noFill/>
          <a:ln w="203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3268980" y="813816"/>
            <a:ext cx="8229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cxnSp>
        <p:nvCxnSpPr>
          <p:cNvPr id="161" name="Connector 160"/>
          <p:cNvCxnSpPr/>
          <p:nvPr/>
        </p:nvCxnSpPr>
        <p:spPr>
          <a:xfrm>
            <a:off x="1677923" y="1499616"/>
            <a:ext cx="118872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sp>
        <p:nvSpPr>
          <p:cNvPr id="162" name="Freeform 161"/>
          <p:cNvSpPr/>
          <p:nvPr/>
        </p:nvSpPr>
        <p:spPr>
          <a:xfrm>
            <a:off x="1876348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10414">
            <a:solidFill>
              <a:srgbClr val="EBB591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876348" y="1270496"/>
            <a:ext cx="949148" cy="198944"/>
          </a:xfrm>
          <a:custGeom>
            <a:avLst/>
            <a:gdLst/>
            <a:ahLst/>
            <a:cxnLst/>
            <a:rect l="l" t="t" r="r" b="b"/>
            <a:pathLst>
              <a:path w="949148" h="198944">
                <a:moveTo>
                  <a:pt x="949148" y="198944"/>
                </a:moveTo>
                <a:lnTo>
                  <a:pt x="907880" y="165787"/>
                </a:lnTo>
                <a:lnTo>
                  <a:pt x="866613" y="135644"/>
                </a:lnTo>
                <a:lnTo>
                  <a:pt x="825346" y="108515"/>
                </a:lnTo>
                <a:lnTo>
                  <a:pt x="784078" y="84401"/>
                </a:lnTo>
                <a:lnTo>
                  <a:pt x="742811" y="63301"/>
                </a:lnTo>
                <a:lnTo>
                  <a:pt x="701544" y="45215"/>
                </a:lnTo>
                <a:lnTo>
                  <a:pt x="660277" y="30143"/>
                </a:lnTo>
                <a:lnTo>
                  <a:pt x="619009" y="18086"/>
                </a:lnTo>
                <a:lnTo>
                  <a:pt x="577742" y="9043"/>
                </a:lnTo>
                <a:lnTo>
                  <a:pt x="536475" y="3014"/>
                </a:lnTo>
                <a:lnTo>
                  <a:pt x="495208" y="0"/>
                </a:lnTo>
                <a:lnTo>
                  <a:pt x="453940" y="0"/>
                </a:lnTo>
                <a:lnTo>
                  <a:pt x="412673" y="3014"/>
                </a:lnTo>
                <a:lnTo>
                  <a:pt x="371406" y="9043"/>
                </a:lnTo>
                <a:lnTo>
                  <a:pt x="330138" y="18086"/>
                </a:lnTo>
                <a:lnTo>
                  <a:pt x="288871" y="30143"/>
                </a:lnTo>
                <a:lnTo>
                  <a:pt x="247604" y="45215"/>
                </a:lnTo>
                <a:lnTo>
                  <a:pt x="206337" y="63301"/>
                </a:lnTo>
                <a:lnTo>
                  <a:pt x="165069" y="84401"/>
                </a:lnTo>
                <a:lnTo>
                  <a:pt x="123802" y="108515"/>
                </a:lnTo>
                <a:lnTo>
                  <a:pt x="82535" y="135644"/>
                </a:lnTo>
                <a:lnTo>
                  <a:pt x="41268" y="165787"/>
                </a:lnTo>
                <a:lnTo>
                  <a:pt x="0" y="198944"/>
                </a:lnTo>
              </a:path>
            </a:pathLst>
          </a:custGeom>
          <a:noFill/>
          <a:ln w="11176">
            <a:solidFill>
              <a:srgbClr val="EAB08B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452420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1938">
            <a:solidFill>
              <a:srgbClr val="E8AB84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068372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2700">
            <a:solidFill>
              <a:srgbClr val="E7A77D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876348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4224">
            <a:solidFill>
              <a:srgbClr val="E59E6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260396" y="1391243"/>
            <a:ext cx="373076" cy="78197"/>
          </a:xfrm>
          <a:custGeom>
            <a:avLst/>
            <a:gdLst/>
            <a:ahLst/>
            <a:cxnLst/>
            <a:rect l="l" t="t" r="r" b="b"/>
            <a:pathLst>
              <a:path w="373076" h="78197">
                <a:moveTo>
                  <a:pt x="373076" y="78197"/>
                </a:moveTo>
                <a:lnTo>
                  <a:pt x="356855" y="65164"/>
                </a:lnTo>
                <a:lnTo>
                  <a:pt x="340634" y="53316"/>
                </a:lnTo>
                <a:lnTo>
                  <a:pt x="324414" y="42653"/>
                </a:lnTo>
                <a:lnTo>
                  <a:pt x="308193" y="33174"/>
                </a:lnTo>
                <a:lnTo>
                  <a:pt x="291972" y="24881"/>
                </a:lnTo>
                <a:lnTo>
                  <a:pt x="275752" y="17772"/>
                </a:lnTo>
                <a:lnTo>
                  <a:pt x="259531" y="11848"/>
                </a:lnTo>
                <a:lnTo>
                  <a:pt x="243310" y="7108"/>
                </a:lnTo>
                <a:lnTo>
                  <a:pt x="227090" y="3554"/>
                </a:lnTo>
                <a:lnTo>
                  <a:pt x="210869" y="1184"/>
                </a:lnTo>
                <a:lnTo>
                  <a:pt x="194648" y="0"/>
                </a:lnTo>
                <a:lnTo>
                  <a:pt x="178428" y="0"/>
                </a:lnTo>
                <a:lnTo>
                  <a:pt x="162207" y="1184"/>
                </a:lnTo>
                <a:lnTo>
                  <a:pt x="145986" y="3554"/>
                </a:lnTo>
                <a:lnTo>
                  <a:pt x="129766" y="7108"/>
                </a:lnTo>
                <a:lnTo>
                  <a:pt x="113545" y="11848"/>
                </a:lnTo>
                <a:lnTo>
                  <a:pt x="97324" y="17772"/>
                </a:lnTo>
                <a:lnTo>
                  <a:pt x="81104" y="24881"/>
                </a:lnTo>
                <a:lnTo>
                  <a:pt x="64883" y="33174"/>
                </a:lnTo>
                <a:lnTo>
                  <a:pt x="48662" y="42653"/>
                </a:lnTo>
                <a:lnTo>
                  <a:pt x="32442" y="53316"/>
                </a:lnTo>
                <a:lnTo>
                  <a:pt x="16221" y="65164"/>
                </a:lnTo>
                <a:lnTo>
                  <a:pt x="0" y="78197"/>
                </a:lnTo>
              </a:path>
            </a:pathLst>
          </a:custGeom>
          <a:noFill/>
          <a:ln w="17272">
            <a:solidFill>
              <a:srgbClr val="E08B54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2260396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9558">
            <a:solidFill>
              <a:srgbClr val="DC7E4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2260396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20015">
            <a:solidFill>
              <a:srgbClr val="DB7B3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2903220" y="1499616"/>
            <a:ext cx="44805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sp>
        <p:nvSpPr>
          <p:cNvPr id="171" name="Freeform 170"/>
          <p:cNvSpPr/>
          <p:nvPr/>
        </p:nvSpPr>
        <p:spPr>
          <a:xfrm>
            <a:off x="3724351" y="1521488"/>
            <a:ext cx="93269" cy="108082"/>
          </a:xfrm>
          <a:custGeom>
            <a:avLst/>
            <a:gdLst/>
            <a:ahLst/>
            <a:cxnLst/>
            <a:rect l="l" t="t" r="r" b="b"/>
            <a:pathLst>
              <a:path w="93269" h="108082">
                <a:moveTo>
                  <a:pt x="93269" y="108082"/>
                </a:moveTo>
                <a:lnTo>
                  <a:pt x="92270" y="100745"/>
                </a:lnTo>
                <a:lnTo>
                  <a:pt x="90993" y="93648"/>
                </a:lnTo>
                <a:lnTo>
                  <a:pt x="89439" y="86791"/>
                </a:lnTo>
                <a:lnTo>
                  <a:pt x="87607" y="80173"/>
                </a:lnTo>
                <a:lnTo>
                  <a:pt x="85497" y="73796"/>
                </a:lnTo>
                <a:lnTo>
                  <a:pt x="83109" y="67658"/>
                </a:lnTo>
                <a:lnTo>
                  <a:pt x="80443" y="61760"/>
                </a:lnTo>
                <a:lnTo>
                  <a:pt x="77499" y="56101"/>
                </a:lnTo>
                <a:lnTo>
                  <a:pt x="74278" y="50683"/>
                </a:lnTo>
                <a:lnTo>
                  <a:pt x="70778" y="45504"/>
                </a:lnTo>
                <a:lnTo>
                  <a:pt x="67001" y="40565"/>
                </a:lnTo>
                <a:lnTo>
                  <a:pt x="62946" y="35866"/>
                </a:lnTo>
                <a:lnTo>
                  <a:pt x="58613" y="31406"/>
                </a:lnTo>
                <a:lnTo>
                  <a:pt x="54002" y="27187"/>
                </a:lnTo>
                <a:lnTo>
                  <a:pt x="49113" y="23207"/>
                </a:lnTo>
                <a:lnTo>
                  <a:pt x="43946" y="19467"/>
                </a:lnTo>
                <a:lnTo>
                  <a:pt x="38502" y="15966"/>
                </a:lnTo>
                <a:lnTo>
                  <a:pt x="32780" y="12706"/>
                </a:lnTo>
                <a:lnTo>
                  <a:pt x="26779" y="9685"/>
                </a:lnTo>
                <a:lnTo>
                  <a:pt x="20501" y="6904"/>
                </a:lnTo>
                <a:lnTo>
                  <a:pt x="13945" y="4363"/>
                </a:lnTo>
                <a:lnTo>
                  <a:pt x="7111" y="2062"/>
                </a:lnTo>
                <a:lnTo>
                  <a:pt x="0" y="0"/>
                </a:lnTo>
              </a:path>
            </a:pathLst>
          </a:custGeom>
          <a:noFill/>
          <a:ln w="16129">
            <a:solidFill>
              <a:srgbClr val="E59F72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724351" y="1507675"/>
            <a:ext cx="212140" cy="86489"/>
          </a:xfrm>
          <a:custGeom>
            <a:avLst/>
            <a:gdLst/>
            <a:ahLst/>
            <a:cxnLst/>
            <a:rect l="l" t="t" r="r" b="b"/>
            <a:pathLst>
              <a:path w="212140" h="86489">
                <a:moveTo>
                  <a:pt x="212140" y="86489"/>
                </a:moveTo>
                <a:lnTo>
                  <a:pt x="205335" y="76272"/>
                </a:lnTo>
                <a:lnTo>
                  <a:pt x="198310" y="66695"/>
                </a:lnTo>
                <a:lnTo>
                  <a:pt x="191064" y="57761"/>
                </a:lnTo>
                <a:lnTo>
                  <a:pt x="183599" y="49468"/>
                </a:lnTo>
                <a:lnTo>
                  <a:pt x="175915" y="41817"/>
                </a:lnTo>
                <a:lnTo>
                  <a:pt x="168010" y="34807"/>
                </a:lnTo>
                <a:lnTo>
                  <a:pt x="159886" y="28439"/>
                </a:lnTo>
                <a:lnTo>
                  <a:pt x="151541" y="22713"/>
                </a:lnTo>
                <a:lnTo>
                  <a:pt x="142977" y="17628"/>
                </a:lnTo>
                <a:lnTo>
                  <a:pt x="134193" y="13185"/>
                </a:lnTo>
                <a:lnTo>
                  <a:pt x="125190" y="9383"/>
                </a:lnTo>
                <a:lnTo>
                  <a:pt x="115966" y="6223"/>
                </a:lnTo>
                <a:lnTo>
                  <a:pt x="106523" y="3705"/>
                </a:lnTo>
                <a:lnTo>
                  <a:pt x="96860" y="1829"/>
                </a:lnTo>
                <a:lnTo>
                  <a:pt x="86977" y="594"/>
                </a:lnTo>
                <a:lnTo>
                  <a:pt x="76874" y="0"/>
                </a:lnTo>
                <a:lnTo>
                  <a:pt x="66551" y="49"/>
                </a:lnTo>
                <a:lnTo>
                  <a:pt x="56009" y="739"/>
                </a:lnTo>
                <a:lnTo>
                  <a:pt x="45247" y="2070"/>
                </a:lnTo>
                <a:lnTo>
                  <a:pt x="34265" y="4043"/>
                </a:lnTo>
                <a:lnTo>
                  <a:pt x="23063" y="6658"/>
                </a:lnTo>
                <a:lnTo>
                  <a:pt x="11641" y="9915"/>
                </a:lnTo>
                <a:lnTo>
                  <a:pt x="0" y="13813"/>
                </a:lnTo>
              </a:path>
            </a:pathLst>
          </a:custGeom>
          <a:noFill/>
          <a:ln w="19684">
            <a:solidFill>
              <a:srgbClr val="E18E59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3724351" y="1488881"/>
            <a:ext cx="331013" cy="137470"/>
          </a:xfrm>
          <a:custGeom>
            <a:avLst/>
            <a:gdLst/>
            <a:ahLst/>
            <a:cxnLst/>
            <a:rect l="l" t="t" r="r" b="b"/>
            <a:pathLst>
              <a:path w="331013" h="137470">
                <a:moveTo>
                  <a:pt x="331013" y="137470"/>
                </a:moveTo>
                <a:lnTo>
                  <a:pt x="320633" y="120246"/>
                </a:lnTo>
                <a:lnTo>
                  <a:pt x="309888" y="104173"/>
                </a:lnTo>
                <a:lnTo>
                  <a:pt x="298779" y="89252"/>
                </a:lnTo>
                <a:lnTo>
                  <a:pt x="287305" y="75482"/>
                </a:lnTo>
                <a:lnTo>
                  <a:pt x="275467" y="62863"/>
                </a:lnTo>
                <a:lnTo>
                  <a:pt x="263263" y="51396"/>
                </a:lnTo>
                <a:lnTo>
                  <a:pt x="250695" y="41080"/>
                </a:lnTo>
                <a:lnTo>
                  <a:pt x="237762" y="31915"/>
                </a:lnTo>
                <a:lnTo>
                  <a:pt x="224465" y="23902"/>
                </a:lnTo>
                <a:lnTo>
                  <a:pt x="210802" y="17040"/>
                </a:lnTo>
                <a:lnTo>
                  <a:pt x="196775" y="11329"/>
                </a:lnTo>
                <a:lnTo>
                  <a:pt x="182383" y="6770"/>
                </a:lnTo>
                <a:lnTo>
                  <a:pt x="167627" y="3362"/>
                </a:lnTo>
                <a:lnTo>
                  <a:pt x="152505" y="1105"/>
                </a:lnTo>
                <a:lnTo>
                  <a:pt x="137019" y="0"/>
                </a:lnTo>
                <a:lnTo>
                  <a:pt x="121168" y="46"/>
                </a:lnTo>
                <a:lnTo>
                  <a:pt x="104953" y="1244"/>
                </a:lnTo>
                <a:lnTo>
                  <a:pt x="88372" y="3593"/>
                </a:lnTo>
                <a:lnTo>
                  <a:pt x="71427" y="7093"/>
                </a:lnTo>
                <a:lnTo>
                  <a:pt x="54118" y="11744"/>
                </a:lnTo>
                <a:lnTo>
                  <a:pt x="36443" y="17547"/>
                </a:lnTo>
                <a:lnTo>
                  <a:pt x="18404" y="24501"/>
                </a:lnTo>
                <a:lnTo>
                  <a:pt x="0" y="32607"/>
                </a:lnTo>
              </a:path>
            </a:pathLst>
          </a:custGeom>
          <a:noFill/>
          <a:ln w="23240">
            <a:solidFill>
              <a:srgbClr val="DC7D4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3538728" y="1133856"/>
            <a:ext cx="0" cy="196596"/>
          </a:xfrm>
          <a:prstGeom prst="line">
            <a:avLst/>
          </a:prstGeom>
          <a:ln w="13970">
            <a:solidFill>
              <a:srgbClr val="52514E"/>
            </a:solidFill>
            <a:tailEnd type="triangle" w="med" len="med"/>
          </a:ln>
        </p:spPr>
      </p:cxnSp>
      <p:cxnSp>
        <p:nvCxnSpPr>
          <p:cNvPr id="175" name="Connector 174"/>
          <p:cNvCxnSpPr/>
          <p:nvPr/>
        </p:nvCxnSpPr>
        <p:spPr>
          <a:xfrm flipH="1" flipV="1">
            <a:off x="1997415" y="870508"/>
            <a:ext cx="153253" cy="153620"/>
          </a:xfrm>
          <a:prstGeom prst="line">
            <a:avLst/>
          </a:prstGeom>
          <a:ln w="11430">
            <a:solidFill>
              <a:srgbClr val="4F4D8A"/>
            </a:solidFill>
            <a:tailEnd type="triangle" w="med" len="med"/>
          </a:ln>
        </p:spPr>
      </p:cxnSp>
      <p:cxnSp>
        <p:nvCxnSpPr>
          <p:cNvPr id="176" name="Connector 175"/>
          <p:cNvCxnSpPr/>
          <p:nvPr/>
        </p:nvCxnSpPr>
        <p:spPr>
          <a:xfrm flipV="1">
            <a:off x="2150668" y="707745"/>
            <a:ext cx="116861" cy="316383"/>
          </a:xfrm>
          <a:prstGeom prst="line">
            <a:avLst/>
          </a:prstGeom>
          <a:ln w="11430">
            <a:solidFill>
              <a:srgbClr val="D9722F"/>
            </a:solidFill>
            <a:tailEnd type="triangle" w="med" len="med"/>
          </a:ln>
        </p:spPr>
      </p:cxnSp>
      <p:sp>
        <p:nvSpPr>
          <p:cNvPr id="177" name="Oval 176"/>
          <p:cNvSpPr/>
          <p:nvPr/>
        </p:nvSpPr>
        <p:spPr>
          <a:xfrm>
            <a:off x="3912717" y="738286"/>
            <a:ext cx="47548" cy="47548"/>
          </a:xfrm>
          <a:prstGeom prst="ellipse">
            <a:avLst/>
          </a:prstGeom>
          <a:solidFill>
            <a:srgbClr val="4F4D8A"/>
          </a:solidFill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835200" y="1469440"/>
            <a:ext cx="60350" cy="60350"/>
          </a:xfrm>
          <a:prstGeom prst="ellipse">
            <a:avLst/>
          </a:prstGeom>
          <a:solidFill>
            <a:srgbClr val="BCCBE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027224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2219248" y="1469440"/>
            <a:ext cx="60350" cy="60350"/>
          </a:xfrm>
          <a:prstGeom prst="ellipse">
            <a:avLst/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411272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603296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795320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673144" y="1459309"/>
            <a:ext cx="51207" cy="45720"/>
          </a:xfrm>
          <a:custGeom>
            <a:avLst/>
            <a:gdLst/>
            <a:ahLst/>
            <a:cxnLst/>
            <a:rect l="l" t="t" r="r" b="b"/>
            <a:pathLst>
              <a:path w="51207" h="45720">
                <a:moveTo>
                  <a:pt x="0" y="45720"/>
                </a:moveTo>
                <a:lnTo>
                  <a:pt x="51207" y="45720"/>
                </a:lnTo>
                <a:lnTo>
                  <a:pt x="25604" y="0"/>
                </a:lnTo>
                <a:close/>
              </a:path>
            </a:pathLst>
          </a:custGeom>
          <a:solidFill>
            <a:srgbClr val="D9722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141524" y="1014984"/>
            <a:ext cx="18288" cy="18288"/>
          </a:xfrm>
          <a:prstGeom prst="ellipse">
            <a:avLst/>
          </a:prstGeom>
          <a:solidFill>
            <a:srgbClr val="0B0B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-72237" y="4000"/>
            <a:ext cx="80284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reference failures 𝒟</a:t>
            </a:r>
            <a:r>
              <a:rPr sz="540" b="0" i="0" baseline="-25000">
                <a:solidFill>
                  <a:srgbClr val="0B0B0B"/>
                </a:solidFill>
                <a:latin typeface="Times New Roman"/>
              </a:rPr>
              <a:t>fail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-29946" y="420052"/>
            <a:ext cx="645109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failed trajectory </a:t>
            </a:r>
            <a:r>
              <a:rPr sz="540" b="0" i="1">
                <a:solidFill>
                  <a:srgbClr val="0B0B0B"/>
                </a:solidFill>
                <a:latin typeface="Times New Roman"/>
              </a:rPr>
              <a:t>τ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0584" y="545782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38531" y="550068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" y="724090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38531" y="728376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0584" y="902398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3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38531" y="906684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0584" y="1080706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38531" y="1084992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0584" y="1259014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38531" y="1263300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584" y="1437322"/>
            <a:ext cx="108813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6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38531" y="1441608"/>
            <a:ext cx="246100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48640" y="898969"/>
            <a:ext cx="113487" cy="99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8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487" y="1603057"/>
            <a:ext cx="39624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B23A1F"/>
                </a:solidFill>
                <a:latin typeface="Times New Roman"/>
              </a:rPr>
              <a:t>✗ task fails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58634" y="800957"/>
            <a:ext cx="101218" cy="16287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2D4B6E"/>
                </a:solidFill>
                <a:latin typeface="Times New Roman"/>
              </a:rPr>
              <a:t>ℳ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98753" y="976693"/>
            <a:ext cx="22098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frozen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3359" y="1063561"/>
            <a:ext cx="19177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proxy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2825" y="698658"/>
            <a:ext cx="83693" cy="11144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5B8AC0"/>
                </a:solidFill>
                <a:latin typeface="Times New Roman"/>
              </a:rPr>
              <a:t>❄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5182" y="361759"/>
            <a:ext cx="79603" cy="99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R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99388" y="750379"/>
            <a:ext cx="113487" cy="99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07643" y="1475898"/>
            <a:ext cx="303352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0">
                <a:solidFill>
                  <a:srgbClr val="0B0B0B"/>
                </a:solidFill>
                <a:latin typeface="Times New Roman"/>
              </a:rPr>
              <a:t>attention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225296" y="32004"/>
            <a:ext cx="9804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(1) Fit the spectral band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86052" y="144703"/>
            <a:ext cx="136855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SVD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395401" y="132016"/>
            <a:ext cx="392734" cy="925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D9722F"/>
                </a:solidFill>
                <a:latin typeface="Times New Roman"/>
              </a:rPr>
              <a:t>keep band 𝒞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463747" y="68580"/>
            <a:ext cx="213969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D9722F"/>
                </a:solidFill>
                <a:latin typeface="Times New Roman"/>
              </a:rPr>
              <a:t>errors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31387" y="68580"/>
            <a:ext cx="438302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4F4D8A"/>
                </a:solidFill>
                <a:latin typeface="Times New Roman"/>
              </a:rPr>
              <a:t>ordinary steps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617442" y="328326"/>
            <a:ext cx="217474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π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𝒞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8A887F"/>
                </a:solidFill>
                <a:latin typeface="Times New Roman"/>
              </a:rPr>
              <a:t>v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)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225296" y="438912"/>
            <a:ext cx="905662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(2) Spectral base score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356197" y="553326"/>
            <a:ext cx="10414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0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321269" y="489775"/>
            <a:ext cx="79603" cy="99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80" b="0" i="0">
                <a:solidFill>
                  <a:srgbClr val="D9722F"/>
                </a:solidFill>
                <a:latin typeface="Times New Roman"/>
              </a:rPr>
              <a:t>𝒞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795612" y="781926"/>
            <a:ext cx="36703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4F4D8A"/>
                </a:solidFill>
                <a:latin typeface="Times New Roman"/>
              </a:rPr>
              <a:t>ordinary </a:t>
            </a:r>
            <a:r>
              <a:rPr sz="500" b="0" i="1">
                <a:solidFill>
                  <a:srgbClr val="4F4D8A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4F4D8A"/>
                </a:solidFill>
                <a:latin typeface="Times New Roman"/>
              </a:rPr>
              <a:t>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828800" y="994695"/>
            <a:ext cx="256032" cy="77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 i="1">
                <a:solidFill>
                  <a:srgbClr val="4F4D8A"/>
                </a:solidFill>
                <a:latin typeface="Times New Roman"/>
              </a:rPr>
              <a:t>π</a:t>
            </a:r>
            <a:r>
              <a:rPr sz="450" b="0" i="1" baseline="-25000">
                <a:solidFill>
                  <a:srgbClr val="4F4D8A"/>
                </a:solidFill>
                <a:latin typeface="Times New Roman"/>
              </a:rPr>
              <a:t>𝒞</a:t>
            </a:r>
            <a:r>
              <a:rPr sz="450" b="0" i="0">
                <a:solidFill>
                  <a:srgbClr val="4F4D8A"/>
                </a:solidFill>
                <a:latin typeface="Times New Roman"/>
              </a:rPr>
              <a:t> large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723461" y="619163"/>
            <a:ext cx="57150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 i="0">
                <a:solidFill>
                  <a:srgbClr val="D9722F"/>
                </a:solidFill>
                <a:latin typeface="Times New Roman"/>
              </a:rPr>
              <a:t>decisive error </a:t>
            </a:r>
            <a:r>
              <a:rPr sz="500" b="0" i="1">
                <a:solidFill>
                  <a:srgbClr val="D9722F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D9722F"/>
                </a:solidFill>
                <a:latin typeface="Times New Roman"/>
              </a:rPr>
              <a:t>t*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294961" y="982922"/>
            <a:ext cx="265379" cy="80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 i="1">
                <a:solidFill>
                  <a:srgbClr val="D9722F"/>
                </a:solidFill>
                <a:latin typeface="Times New Roman"/>
              </a:rPr>
              <a:t>π</a:t>
            </a:r>
            <a:r>
              <a:rPr sz="470" b="0" i="1" baseline="-25000">
                <a:solidFill>
                  <a:srgbClr val="D9722F"/>
                </a:solidFill>
                <a:latin typeface="Times New Roman"/>
              </a:rPr>
              <a:t>𝒞</a:t>
            </a:r>
            <a:r>
              <a:rPr sz="470" b="0" i="0">
                <a:solidFill>
                  <a:srgbClr val="D9722F"/>
                </a:solidFill>
                <a:latin typeface="Times New Roman"/>
              </a:rPr>
              <a:t> small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966950" y="1057103"/>
            <a:ext cx="217474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D9722F"/>
                </a:solidFill>
                <a:latin typeface="Times New Roman"/>
              </a:rPr>
              <a:t>band 𝒞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51176" y="652081"/>
            <a:ext cx="1009650" cy="85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) = (1/|𝒞|) Σ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c∈𝒞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 ⟨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, 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:,c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⟩</a:t>
            </a:r>
            <a:r>
              <a:rPr sz="500" b="0" i="0" baseline="30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51176" y="862965"/>
            <a:ext cx="886968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= 1 / 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ε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405428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524300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643172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62044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80916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99788" y="1076706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721608" y="685800"/>
            <a:ext cx="106476" cy="891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401568" y="563499"/>
            <a:ext cx="197612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04539" y="566928"/>
            <a:ext cx="410260" cy="8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 i="0">
                <a:solidFill>
                  <a:srgbClr val="4F4D8A"/>
                </a:solidFill>
                <a:latin typeface="Times New Roman"/>
              </a:rPr>
              <a:t>argmax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S</a:t>
            </a:r>
            <a:r>
              <a:rPr sz="480" b="0" i="0">
                <a:solidFill>
                  <a:srgbClr val="4F4D8A"/>
                </a:solidFill>
                <a:latin typeface="Times New Roman"/>
              </a:rPr>
              <a:t> ≠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t</a:t>
            </a:r>
            <a:r>
              <a:rPr sz="480" b="0" i="0" baseline="30000">
                <a:solidFill>
                  <a:srgbClr val="4F4D8A"/>
                </a:solidFill>
                <a:latin typeface="Times New Roman"/>
              </a:rPr>
              <a:t>*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225296" y="1252728"/>
            <a:ext cx="1167384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(3) Attention-guided rescoring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318224" y="1763763"/>
            <a:ext cx="180085" cy="788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 i="1">
                <a:solidFill>
                  <a:srgbClr val="D9722F"/>
                </a:solidFill>
                <a:latin typeface="Times New Roman"/>
              </a:rPr>
              <a:t>i</a:t>
            </a:r>
            <a:r>
              <a:rPr sz="459" b="0" i="0">
                <a:solidFill>
                  <a:srgbClr val="D9722F"/>
                </a:solidFill>
                <a:latin typeface="Times New Roman"/>
              </a:rPr>
              <a:t> = 3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87729" y="1825371"/>
            <a:ext cx="714044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attention weights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813890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005914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197938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389962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581986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774010" y="1528933"/>
            <a:ext cx="102971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76856" y="1528933"/>
            <a:ext cx="160223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90" b="0" i="0">
                <a:solidFill>
                  <a:srgbClr val="D9722F"/>
                </a:solidFill>
                <a:latin typeface="Times New Roman"/>
              </a:rPr>
              <a:t>=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847088" y="1645920"/>
            <a:ext cx="793496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4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=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847088" y="1797939"/>
            <a:ext cx="1017828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B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=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 /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405428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524300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643172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762044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880916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999788" y="1881378"/>
            <a:ext cx="111150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782822" y="1297590"/>
            <a:ext cx="331978" cy="840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90" b="0" i="1">
                <a:solidFill>
                  <a:srgbClr val="D9722F"/>
                </a:solidFill>
                <a:latin typeface="Times New Roman"/>
              </a:rPr>
              <a:t>w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3,t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)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569563" y="1368171"/>
            <a:ext cx="258368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1">
                <a:solidFill>
                  <a:srgbClr val="D9722F"/>
                </a:solidFill>
                <a:latin typeface="Times New Roman"/>
              </a:rPr>
              <a:t>t̂</a:t>
            </a:r>
            <a:r>
              <a:rPr sz="520" b="0" i="0">
                <a:solidFill>
                  <a:srgbClr val="D9722F"/>
                </a:solidFill>
                <a:latin typeface="Times New Roman"/>
              </a:rPr>
              <a:t> = </a:t>
            </a:r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506724" y="1477613"/>
            <a:ext cx="183007" cy="80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(</a:t>
            </a:r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506724" y="1537049"/>
            <a:ext cx="128092" cy="80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γB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401568" y="1368171"/>
            <a:ext cx="227990" cy="891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288284" y="1159002"/>
            <a:ext cx="209295" cy="960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60" b="0" i="0">
                <a:solidFill>
                  <a:srgbClr val="0B0B0B"/>
                </a:solidFill>
                <a:latin typeface="Times New Roman"/>
              </a:rPr>
              <a:t>+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